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2437E2B-35DF-4315-9B04-C60C541F2223}"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782172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437E2B-35DF-4315-9B04-C60C541F2223}"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689442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2437E2B-35DF-4315-9B04-C60C541F2223}"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938021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437E2B-35DF-4315-9B04-C60C541F2223}"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1745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2437E2B-35DF-4315-9B04-C60C541F2223}"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07096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2437E2B-35DF-4315-9B04-C60C541F2223}"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18520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437E2B-35DF-4315-9B04-C60C541F2223}"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2777293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437E2B-35DF-4315-9B04-C60C541F2223}"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618704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437E2B-35DF-4315-9B04-C60C541F2223}"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56046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437E2B-35DF-4315-9B04-C60C541F2223}"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2603950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437E2B-35DF-4315-9B04-C60C541F2223}"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028F9C-B47E-4E2A-96E1-5DFD00CA4C02}" type="slidenum">
              <a:rPr lang="en-US" smtClean="0"/>
              <a:t>‹#›</a:t>
            </a:fld>
            <a:endParaRPr lang="en-US"/>
          </a:p>
        </p:txBody>
      </p:sp>
    </p:spTree>
    <p:extLst>
      <p:ext uri="{BB962C8B-B14F-4D97-AF65-F5344CB8AC3E}">
        <p14:creationId xmlns:p14="http://schemas.microsoft.com/office/powerpoint/2010/main" val="366292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437E2B-35DF-4315-9B04-C60C541F2223}"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028F9C-B47E-4E2A-96E1-5DFD00CA4C02}" type="slidenum">
              <a:rPr lang="en-US" smtClean="0"/>
              <a:t>‹#›</a:t>
            </a:fld>
            <a:endParaRPr lang="en-US"/>
          </a:p>
        </p:txBody>
      </p:sp>
    </p:spTree>
    <p:extLst>
      <p:ext uri="{BB962C8B-B14F-4D97-AF65-F5344CB8AC3E}">
        <p14:creationId xmlns:p14="http://schemas.microsoft.com/office/powerpoint/2010/main" val="4263476101"/>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Retail Analytics Case Study</a:t>
            </a:r>
            <a:r>
              <a:rPr lang="en-US" dirty="0"/>
              <a:t/>
            </a:r>
            <a:br>
              <a:rPr lang="en-US" dirty="0"/>
            </a:br>
            <a:endParaRPr lang="en-US" dirty="0"/>
          </a:p>
        </p:txBody>
      </p:sp>
      <p:sp>
        <p:nvSpPr>
          <p:cNvPr id="3" name="Subtitle 2"/>
          <p:cNvSpPr>
            <a:spLocks noGrp="1"/>
          </p:cNvSpPr>
          <p:nvPr>
            <p:ph type="subTitle" idx="1"/>
          </p:nvPr>
        </p:nvSpPr>
        <p:spPr/>
        <p:txBody>
          <a:bodyPr>
            <a:normAutofit/>
          </a:bodyPr>
          <a:lstStyle/>
          <a:p>
            <a:r>
              <a:rPr lang="en-US" sz="3600" dirty="0" smtClean="0"/>
              <a:t>SQL PROJECT PRESENTATION </a:t>
            </a:r>
            <a:endParaRPr lang="en-US" sz="3600" dirty="0"/>
          </a:p>
        </p:txBody>
      </p:sp>
    </p:spTree>
    <p:extLst>
      <p:ext uri="{BB962C8B-B14F-4D97-AF65-F5344CB8AC3E}">
        <p14:creationId xmlns:p14="http://schemas.microsoft.com/office/powerpoint/2010/main" val="15705833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Overview</a:t>
            </a:r>
            <a:endParaRPr lang="en-US" u="sng" dirty="0"/>
          </a:p>
        </p:txBody>
      </p:sp>
      <p:sp>
        <p:nvSpPr>
          <p:cNvPr id="3" name="Content Placeholder 2"/>
          <p:cNvSpPr>
            <a:spLocks noGrp="1"/>
          </p:cNvSpPr>
          <p:nvPr>
            <p:ph idx="1"/>
          </p:nvPr>
        </p:nvSpPr>
        <p:spPr/>
        <p:txBody>
          <a:bodyPr>
            <a:normAutofit/>
          </a:bodyPr>
          <a:lstStyle/>
          <a:p>
            <a:pPr marL="0" indent="0">
              <a:buNone/>
            </a:pPr>
            <a:r>
              <a:rPr lang="en-US" sz="2600" dirty="0"/>
              <a:t>In the rapidly evolving retail sector, businesses continually seek innovative strategies to stay ahead of the competition, improve customer satisfaction, and optimize operational efficiency. Leveraging data analytics has become a cornerstone for achieving these objectives. This case study focuses on a retail company that has encountered challenges in understanding its </a:t>
            </a:r>
            <a:r>
              <a:rPr lang="en-US" sz="2600" b="1" dirty="0"/>
              <a:t>sales performance, customer engagement,</a:t>
            </a:r>
            <a:r>
              <a:rPr lang="en-US" sz="2600" dirty="0"/>
              <a:t> and </a:t>
            </a:r>
            <a:r>
              <a:rPr lang="en-US" sz="2600" b="1" dirty="0"/>
              <a:t>inventory management.</a:t>
            </a:r>
            <a:r>
              <a:rPr lang="en-US" sz="2600" dirty="0"/>
              <a:t> Through a comprehensive data analysis approach, the company aims to identify </a:t>
            </a:r>
            <a:r>
              <a:rPr lang="en-US" sz="2600" b="1" dirty="0"/>
              <a:t>high or low sales products,</a:t>
            </a:r>
            <a:r>
              <a:rPr lang="en-US" sz="2600" dirty="0"/>
              <a:t> effectively </a:t>
            </a:r>
            <a:r>
              <a:rPr lang="en-US" sz="2600" b="1" dirty="0"/>
              <a:t>segment</a:t>
            </a:r>
            <a:r>
              <a:rPr lang="en-US" sz="2600" dirty="0"/>
              <a:t> its customer base, and analyze </a:t>
            </a:r>
            <a:r>
              <a:rPr lang="en-US" sz="2600" b="1" dirty="0"/>
              <a:t>customer behavior</a:t>
            </a:r>
            <a:r>
              <a:rPr lang="en-US" sz="2600" dirty="0"/>
              <a:t> to enhance marketing strategies, inventory decisions, and overall customer experience.</a:t>
            </a:r>
          </a:p>
          <a:p>
            <a:pPr marL="0" indent="0">
              <a:buNone/>
            </a:pPr>
            <a:endParaRPr lang="en-US" dirty="0"/>
          </a:p>
        </p:txBody>
      </p:sp>
    </p:spTree>
    <p:extLst>
      <p:ext uri="{BB962C8B-B14F-4D97-AF65-F5344CB8AC3E}">
        <p14:creationId xmlns:p14="http://schemas.microsoft.com/office/powerpoint/2010/main" val="10831516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288" y="365125"/>
            <a:ext cx="10515600" cy="1325563"/>
          </a:xfrm>
        </p:spPr>
        <p:txBody>
          <a:bodyPr/>
          <a:lstStyle/>
          <a:p>
            <a:r>
              <a:rPr lang="en-US" b="1" u="sng" dirty="0"/>
              <a:t>Business Problem</a:t>
            </a:r>
            <a:endParaRPr lang="en-US" u="sng" dirty="0"/>
          </a:p>
        </p:txBody>
      </p:sp>
      <p:sp>
        <p:nvSpPr>
          <p:cNvPr id="3" name="Content Placeholder 2"/>
          <p:cNvSpPr>
            <a:spLocks noGrp="1"/>
          </p:cNvSpPr>
          <p:nvPr>
            <p:ph idx="1"/>
          </p:nvPr>
        </p:nvSpPr>
        <p:spPr>
          <a:xfrm>
            <a:off x="649481" y="1690688"/>
            <a:ext cx="10964254" cy="4881027"/>
          </a:xfrm>
        </p:spPr>
        <p:txBody>
          <a:bodyPr>
            <a:normAutofit fontScale="77500" lnSpcReduction="20000"/>
          </a:bodyPr>
          <a:lstStyle/>
          <a:p>
            <a:pPr marL="0" indent="0">
              <a:buNone/>
            </a:pPr>
            <a:r>
              <a:rPr lang="en-US" sz="3100" dirty="0"/>
              <a:t>The retail company has observed stagnant growth and declining customer engagement metrics over the past quarters. Initial assessments indicate potential issues in product performance variability, ineffective customer segmentation, and lack of insights into customer purchasing behavior. The company seeks to leverage its sales transaction data, customer profiles, and product inventory information to address the following key business problems</a:t>
            </a:r>
            <a:r>
              <a:rPr lang="en-US" sz="3100" dirty="0" smtClean="0"/>
              <a:t>:</a:t>
            </a:r>
            <a:br>
              <a:rPr lang="en-US" sz="3100" dirty="0" smtClean="0"/>
            </a:br>
            <a:endParaRPr lang="en-US" sz="3100" dirty="0" smtClean="0"/>
          </a:p>
          <a:p>
            <a:pPr lvl="0"/>
            <a:r>
              <a:rPr lang="en-US" sz="3100" b="1" dirty="0"/>
              <a:t>Product Performance Variability:</a:t>
            </a:r>
            <a:r>
              <a:rPr lang="en-US" sz="3100" dirty="0"/>
              <a:t> Identifying which products are performing well in terms of sales and which are not. This insight is crucial for inventory management and marketing focus.</a:t>
            </a:r>
          </a:p>
          <a:p>
            <a:pPr lvl="0"/>
            <a:r>
              <a:rPr lang="en-US" sz="3100" b="1" dirty="0"/>
              <a:t>Customer Segmentation:</a:t>
            </a:r>
            <a:r>
              <a:rPr lang="en-US" sz="3100" dirty="0"/>
              <a:t> The company lacks a clear understanding of its customer base segmentation. Effective segmentation is essential for targeted marketing and enhancing customer satisfaction.</a:t>
            </a:r>
          </a:p>
          <a:p>
            <a:pPr lvl="0"/>
            <a:r>
              <a:rPr lang="en-US" sz="3100" b="1" dirty="0"/>
              <a:t>Customer </a:t>
            </a:r>
            <a:r>
              <a:rPr lang="en-US" sz="3100" b="1" dirty="0" err="1"/>
              <a:t>Behaviour</a:t>
            </a:r>
            <a:r>
              <a:rPr lang="en-US" sz="3100" b="1" dirty="0"/>
              <a:t> Analysis:</a:t>
            </a:r>
            <a:r>
              <a:rPr lang="en-US" sz="3100" dirty="0"/>
              <a:t> Understanding patterns in customer behavior, including repeat purchases and loyalty indicators, is critical for tailoring customer engagement strategies and improving retention rates.</a:t>
            </a:r>
          </a:p>
          <a:p>
            <a:pPr marL="0" indent="0">
              <a:buNone/>
            </a:pPr>
            <a:endParaRPr lang="en-US" dirty="0"/>
          </a:p>
        </p:txBody>
      </p:sp>
    </p:spTree>
    <p:extLst>
      <p:ext uri="{BB962C8B-B14F-4D97-AF65-F5344CB8AC3E}">
        <p14:creationId xmlns:p14="http://schemas.microsoft.com/office/powerpoint/2010/main" val="9344557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213" y="76913"/>
            <a:ext cx="10567587" cy="1613776"/>
          </a:xfrm>
        </p:spPr>
        <p:txBody>
          <a:bodyPr/>
          <a:lstStyle/>
          <a:p>
            <a:r>
              <a:rPr lang="en-US" b="1" u="sng" dirty="0"/>
              <a:t>Objectives:</a:t>
            </a:r>
            <a:r>
              <a:rPr lang="en-US" u="sng" dirty="0"/>
              <a:t/>
            </a:r>
            <a:br>
              <a:rPr lang="en-US" u="sng" dirty="0"/>
            </a:br>
            <a:endParaRPr lang="en-US" u="sng" dirty="0"/>
          </a:p>
        </p:txBody>
      </p:sp>
      <p:sp>
        <p:nvSpPr>
          <p:cNvPr id="3" name="Content Placeholder 2"/>
          <p:cNvSpPr>
            <a:spLocks noGrp="1"/>
          </p:cNvSpPr>
          <p:nvPr>
            <p:ph idx="1"/>
          </p:nvPr>
        </p:nvSpPr>
        <p:spPr>
          <a:xfrm>
            <a:off x="546931" y="999858"/>
            <a:ext cx="10806869" cy="5177105"/>
          </a:xfrm>
        </p:spPr>
        <p:txBody>
          <a:bodyPr>
            <a:normAutofit/>
          </a:bodyPr>
          <a:lstStyle/>
          <a:p>
            <a:pPr lvl="0"/>
            <a:r>
              <a:rPr lang="en-US" sz="2600" dirty="0" smtClean="0"/>
              <a:t>To utilize SQL queries for data cleaning and exploratory data analysis to ensure </a:t>
            </a:r>
            <a:r>
              <a:rPr lang="en-US" sz="2600" dirty="0"/>
              <a:t>data quality and gain initial insights.</a:t>
            </a:r>
          </a:p>
          <a:p>
            <a:pPr lvl="0"/>
            <a:r>
              <a:rPr lang="en-US" sz="2600" dirty="0" smtClean="0"/>
              <a:t>To </a:t>
            </a:r>
            <a:r>
              <a:rPr lang="en-US" sz="2600" dirty="0"/>
              <a:t>identify high and low sales products to optimize inventory and tailor marketing efforts.</a:t>
            </a:r>
          </a:p>
          <a:p>
            <a:pPr lvl="0"/>
            <a:r>
              <a:rPr lang="en-US" sz="2600" dirty="0"/>
              <a:t>To segment customers based on their purchasing behavior for targeted marketing campaigns. Create Customer segments </a:t>
            </a:r>
            <a:r>
              <a:rPr lang="en-US" sz="2600" dirty="0" smtClean="0"/>
              <a:t>–</a:t>
            </a:r>
          </a:p>
          <a:p>
            <a:pPr lvl="0"/>
            <a:endParaRPr lang="en-US" dirty="0"/>
          </a:p>
          <a:p>
            <a:endParaRPr lang="en-US" dirty="0" smtClean="0"/>
          </a:p>
          <a:p>
            <a:endParaRPr lang="en-US" dirty="0"/>
          </a:p>
          <a:p>
            <a:r>
              <a:rPr lang="en-US" sz="2600" dirty="0"/>
              <a:t>To analyze customer behavior for insights on repeat purchases and loyalty, informing customer retention strategies</a:t>
            </a:r>
          </a:p>
        </p:txBody>
      </p:sp>
      <p:graphicFrame>
        <p:nvGraphicFramePr>
          <p:cNvPr id="6" name="Table 5"/>
          <p:cNvGraphicFramePr>
            <a:graphicFrameLocks noGrp="1"/>
          </p:cNvGraphicFramePr>
          <p:nvPr>
            <p:extLst>
              <p:ext uri="{D42A27DB-BD31-4B8C-83A1-F6EECF244321}">
                <p14:modId xmlns:p14="http://schemas.microsoft.com/office/powerpoint/2010/main" val="1907546505"/>
              </p:ext>
            </p:extLst>
          </p:nvPr>
        </p:nvGraphicFramePr>
        <p:xfrm>
          <a:off x="786213" y="3555201"/>
          <a:ext cx="10473584" cy="1243077"/>
        </p:xfrm>
        <a:graphic>
          <a:graphicData uri="http://schemas.openxmlformats.org/drawingml/2006/table">
            <a:tbl>
              <a:tblPr firstRow="1" firstCol="1" bandRow="1">
                <a:tableStyleId>{5C22544A-7EE6-4342-B048-85BDC9FD1C3A}</a:tableStyleId>
              </a:tblPr>
              <a:tblGrid>
                <a:gridCol w="5236792"/>
                <a:gridCol w="5236792"/>
              </a:tblGrid>
              <a:tr h="384049">
                <a:tc>
                  <a:txBody>
                    <a:bodyPr/>
                    <a:lstStyle/>
                    <a:p>
                      <a:pPr algn="ctr">
                        <a:lnSpc>
                          <a:spcPct val="107000"/>
                        </a:lnSpc>
                        <a:spcAft>
                          <a:spcPts val="0"/>
                        </a:spcAft>
                      </a:pPr>
                      <a:r>
                        <a:rPr lang="en-US" sz="1200" dirty="0">
                          <a:effectLst/>
                        </a:rPr>
                        <a:t>Total Quantity of Products Purchased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200">
                          <a:effectLst/>
                        </a:rPr>
                        <a:t>Customer Segment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52838">
                <a:tc>
                  <a:txBody>
                    <a:bodyPr/>
                    <a:lstStyle/>
                    <a:p>
                      <a:pPr>
                        <a:lnSpc>
                          <a:spcPct val="107000"/>
                        </a:lnSpc>
                        <a:spcAft>
                          <a:spcPts val="0"/>
                        </a:spcAft>
                      </a:pPr>
                      <a:r>
                        <a:rPr lang="en-US" sz="1200">
                          <a:effectLst/>
                        </a:rPr>
                        <a:t>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200">
                          <a:effectLst/>
                        </a:rPr>
                        <a:t>No Orders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52838">
                <a:tc>
                  <a:txBody>
                    <a:bodyPr/>
                    <a:lstStyle/>
                    <a:p>
                      <a:pPr>
                        <a:lnSpc>
                          <a:spcPct val="107000"/>
                        </a:lnSpc>
                        <a:spcAft>
                          <a:spcPts val="0"/>
                        </a:spcAft>
                      </a:pPr>
                      <a:r>
                        <a:rPr lang="en-US" sz="1200">
                          <a:effectLst/>
                        </a:rPr>
                        <a:t>1–10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200">
                          <a:effectLst/>
                        </a:rPr>
                        <a:t>Low</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52838">
                <a:tc>
                  <a:txBody>
                    <a:bodyPr/>
                    <a:lstStyle/>
                    <a:p>
                      <a:pPr>
                        <a:lnSpc>
                          <a:spcPct val="107000"/>
                        </a:lnSpc>
                        <a:spcAft>
                          <a:spcPts val="0"/>
                        </a:spcAft>
                      </a:pPr>
                      <a:r>
                        <a:rPr lang="en-US" sz="1200" dirty="0">
                          <a:effectLst/>
                        </a:rPr>
                        <a:t>10–30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200">
                          <a:effectLst/>
                        </a:rPr>
                        <a:t>Mid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52838">
                <a:tc>
                  <a:txBody>
                    <a:bodyPr/>
                    <a:lstStyle/>
                    <a:p>
                      <a:pPr>
                        <a:lnSpc>
                          <a:spcPct val="107000"/>
                        </a:lnSpc>
                        <a:spcAft>
                          <a:spcPts val="0"/>
                        </a:spcAft>
                      </a:pPr>
                      <a:r>
                        <a:rPr lang="en-US" sz="1200">
                          <a:effectLst/>
                        </a:rPr>
                        <a:t>&gt;30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200" dirty="0">
                          <a:effectLst/>
                        </a:rPr>
                        <a:t>High Value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4047684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Datasets Tables:</a:t>
            </a:r>
            <a:r>
              <a:rPr lang="en-US" u="sng" dirty="0"/>
              <a:t/>
            </a:r>
            <a:br>
              <a:rPr lang="en-US" u="sng" dirty="0"/>
            </a:br>
            <a:endParaRPr lang="en-US" u="sng" dirty="0"/>
          </a:p>
        </p:txBody>
      </p:sp>
      <p:sp>
        <p:nvSpPr>
          <p:cNvPr id="3" name="Content Placeholder 2"/>
          <p:cNvSpPr>
            <a:spLocks noGrp="1"/>
          </p:cNvSpPr>
          <p:nvPr>
            <p:ph idx="1"/>
          </p:nvPr>
        </p:nvSpPr>
        <p:spPr/>
        <p:txBody>
          <a:bodyPr>
            <a:normAutofit/>
          </a:bodyPr>
          <a:lstStyle/>
          <a:p>
            <a:pPr lvl="0"/>
            <a:r>
              <a:rPr lang="en-US" sz="2600" b="1" dirty="0"/>
              <a:t>Sales Transaction:</a:t>
            </a:r>
            <a:r>
              <a:rPr lang="en-US" sz="2600" dirty="0"/>
              <a:t> Records of sales transactions, including transaction ID, customer ID, product ID, quantity purchased, transaction date, and price.</a:t>
            </a:r>
          </a:p>
          <a:p>
            <a:pPr lvl="0"/>
            <a:r>
              <a:rPr lang="en-US" sz="2600" b="1" dirty="0"/>
              <a:t>Customer Profiles:</a:t>
            </a:r>
            <a:r>
              <a:rPr lang="en-US" sz="2600" dirty="0"/>
              <a:t> Information on customers, including customer ID, age, gender, location, and join date.</a:t>
            </a:r>
          </a:p>
          <a:p>
            <a:pPr lvl="0"/>
            <a:r>
              <a:rPr lang="en-US" sz="2600" b="1" dirty="0"/>
              <a:t>Product Inventory:</a:t>
            </a:r>
            <a:r>
              <a:rPr lang="en-US" sz="2600" dirty="0"/>
              <a:t> Data on product inventory, including product ID, product name, category, stock level, and price.</a:t>
            </a:r>
          </a:p>
          <a:p>
            <a:endParaRPr lang="en-US" dirty="0"/>
          </a:p>
        </p:txBody>
      </p:sp>
    </p:spTree>
    <p:extLst>
      <p:ext uri="{BB962C8B-B14F-4D97-AF65-F5344CB8AC3E}">
        <p14:creationId xmlns:p14="http://schemas.microsoft.com/office/powerpoint/2010/main" val="1158454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776" y="569361"/>
            <a:ext cx="3494930" cy="922944"/>
          </a:xfrm>
        </p:spPr>
        <p:txBody>
          <a:bodyPr>
            <a:normAutofit/>
          </a:bodyPr>
          <a:lstStyle/>
          <a:p>
            <a:r>
              <a:rPr lang="en-US" sz="2800" b="1" u="sng" dirty="0" smtClean="0"/>
              <a:t>Problem Statement:</a:t>
            </a:r>
            <a:br>
              <a:rPr lang="en-US" sz="2800" b="1" u="sng" dirty="0" smtClean="0"/>
            </a:br>
            <a:r>
              <a:rPr lang="en-US" sz="2800" b="1" u="sng" dirty="0" smtClean="0"/>
              <a:t>Remove Duplicates</a:t>
            </a:r>
            <a:endParaRPr lang="en-US" sz="2800" b="1" u="sng" dirty="0"/>
          </a:p>
        </p:txBody>
      </p:sp>
      <p:pic>
        <p:nvPicPr>
          <p:cNvPr id="9" name="Picture 8"/>
          <p:cNvPicPr>
            <a:picLocks noChangeAspect="1"/>
          </p:cNvPicPr>
          <p:nvPr/>
        </p:nvPicPr>
        <p:blipFill>
          <a:blip r:embed="rId2"/>
          <a:stretch>
            <a:fillRect/>
          </a:stretch>
        </p:blipFill>
        <p:spPr>
          <a:xfrm>
            <a:off x="555776" y="2166771"/>
            <a:ext cx="4174471" cy="2873882"/>
          </a:xfrm>
          <a:prstGeom prst="rect">
            <a:avLst/>
          </a:prstGeom>
        </p:spPr>
      </p:pic>
      <p:pic>
        <p:nvPicPr>
          <p:cNvPr id="13" name="Picture 12"/>
          <p:cNvPicPr>
            <a:picLocks noChangeAspect="1"/>
          </p:cNvPicPr>
          <p:nvPr/>
        </p:nvPicPr>
        <p:blipFill>
          <a:blip r:embed="rId3"/>
          <a:stretch>
            <a:fillRect/>
          </a:stretch>
        </p:blipFill>
        <p:spPr>
          <a:xfrm>
            <a:off x="5115727" y="1220547"/>
            <a:ext cx="5734229" cy="3883071"/>
          </a:xfrm>
          <a:prstGeom prst="rect">
            <a:avLst/>
          </a:prstGeom>
        </p:spPr>
      </p:pic>
      <p:sp>
        <p:nvSpPr>
          <p:cNvPr id="15" name="Rectangle 14"/>
          <p:cNvSpPr/>
          <p:nvPr/>
        </p:nvSpPr>
        <p:spPr>
          <a:xfrm>
            <a:off x="5115727" y="285214"/>
            <a:ext cx="4899944" cy="5682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SQL Query</a:t>
            </a:r>
            <a:endParaRPr lang="en-US" dirty="0">
              <a:solidFill>
                <a:schemeClr val="bg1"/>
              </a:solidFill>
            </a:endParaRPr>
          </a:p>
        </p:txBody>
      </p:sp>
      <p:sp>
        <p:nvSpPr>
          <p:cNvPr id="16" name="Rectangle 15"/>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Duplicate records were detected for Transaction IDs 4999 and 5000, which were removed using SQL data cleaning. The process ensured each transaction appeared only once, improving data accuracy and reliability. This enhances the quality of future sales and inventory analysis.</a:t>
            </a:r>
            <a:endParaRPr lang="en-US" dirty="0"/>
          </a:p>
        </p:txBody>
      </p:sp>
    </p:spTree>
    <p:extLst>
      <p:ext uri="{BB962C8B-B14F-4D97-AF65-F5344CB8AC3E}">
        <p14:creationId xmlns:p14="http://schemas.microsoft.com/office/powerpoint/2010/main" val="29414925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844" y="214713"/>
            <a:ext cx="3159644" cy="937901"/>
          </a:xfrm>
        </p:spPr>
        <p:txBody>
          <a:bodyPr>
            <a:normAutofit fontScale="90000"/>
          </a:bodyPr>
          <a:lstStyle/>
          <a:p>
            <a:r>
              <a:rPr lang="en-US" b="1" u="sng" dirty="0" smtClean="0"/>
              <a:t>Problem Statement:</a:t>
            </a:r>
            <a:br>
              <a:rPr lang="en-US" b="1" u="sng" dirty="0" smtClean="0"/>
            </a:br>
            <a:r>
              <a:rPr lang="en-US" b="1" u="sng" dirty="0" smtClean="0"/>
              <a:t>Fix Incorrect Prices </a:t>
            </a:r>
            <a:endParaRPr lang="en-US" dirty="0"/>
          </a:p>
        </p:txBody>
      </p:sp>
      <p:pic>
        <p:nvPicPr>
          <p:cNvPr id="7" name="Picture 6"/>
          <p:cNvPicPr>
            <a:picLocks noChangeAspect="1"/>
          </p:cNvPicPr>
          <p:nvPr/>
        </p:nvPicPr>
        <p:blipFill>
          <a:blip r:embed="rId2"/>
          <a:stretch>
            <a:fillRect/>
          </a:stretch>
        </p:blipFill>
        <p:spPr>
          <a:xfrm>
            <a:off x="5264209" y="1152614"/>
            <a:ext cx="5963898" cy="4018882"/>
          </a:xfrm>
          <a:prstGeom prst="rect">
            <a:avLst/>
          </a:prstGeom>
        </p:spPr>
      </p:pic>
      <p:pic>
        <p:nvPicPr>
          <p:cNvPr id="9" name="Picture 8"/>
          <p:cNvPicPr>
            <a:picLocks noChangeAspect="1"/>
          </p:cNvPicPr>
          <p:nvPr/>
        </p:nvPicPr>
        <p:blipFill>
          <a:blip r:embed="rId3"/>
          <a:stretch>
            <a:fillRect/>
          </a:stretch>
        </p:blipFill>
        <p:spPr>
          <a:xfrm>
            <a:off x="390392" y="1204311"/>
            <a:ext cx="4557624" cy="4016746"/>
          </a:xfrm>
          <a:prstGeom prst="rect">
            <a:avLst/>
          </a:prstGeom>
        </p:spPr>
      </p:pic>
      <p:sp>
        <p:nvSpPr>
          <p:cNvPr id="10" name="Rectangle 9"/>
          <p:cNvSpPr/>
          <p:nvPr/>
        </p:nvSpPr>
        <p:spPr>
          <a:xfrm>
            <a:off x="5264209" y="418743"/>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11" name="Rectangle 10"/>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Incorrect pricing discrepancies were identified between the </a:t>
            </a:r>
            <a:r>
              <a:rPr lang="en-US" i="1" dirty="0" err="1" smtClean="0"/>
              <a:t>sales_transaction</a:t>
            </a:r>
            <a:r>
              <a:rPr lang="en-US" dirty="0" smtClean="0"/>
              <a:t> and </a:t>
            </a:r>
            <a:r>
              <a:rPr lang="en-US" i="1" dirty="0" err="1" smtClean="0"/>
              <a:t>product_inventory</a:t>
            </a:r>
            <a:r>
              <a:rPr lang="en-US" dirty="0" smtClean="0"/>
              <a:t> tables. Using SQL joins and update queries, transaction prices were aligned with the correct inventory prices. This correction ensured consistency across datasets, improving pricing accuracy and reliability for financial and sales reporting.</a:t>
            </a:r>
            <a:endParaRPr lang="en-US" dirty="0"/>
          </a:p>
        </p:txBody>
      </p:sp>
    </p:spTree>
    <p:extLst>
      <p:ext uri="{BB962C8B-B14F-4D97-AF65-F5344CB8AC3E}">
        <p14:creationId xmlns:p14="http://schemas.microsoft.com/office/powerpoint/2010/main" val="30206336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844" y="73514"/>
            <a:ext cx="3618343" cy="997721"/>
          </a:xfrm>
        </p:spPr>
        <p:txBody>
          <a:bodyPr>
            <a:normAutofit/>
          </a:bodyPr>
          <a:lstStyle/>
          <a:p>
            <a:r>
              <a:rPr lang="en-US" b="1" u="sng" dirty="0" smtClean="0"/>
              <a:t>Problem Statement : Fixing Null Values</a:t>
            </a:r>
            <a:endParaRPr lang="en-US" b="1" u="sng" dirty="0"/>
          </a:p>
        </p:txBody>
      </p:sp>
      <p:pic>
        <p:nvPicPr>
          <p:cNvPr id="6" name="Picture 5"/>
          <p:cNvPicPr>
            <a:picLocks noChangeAspect="1"/>
          </p:cNvPicPr>
          <p:nvPr/>
        </p:nvPicPr>
        <p:blipFill>
          <a:blip r:embed="rId2"/>
          <a:stretch>
            <a:fillRect/>
          </a:stretch>
        </p:blipFill>
        <p:spPr>
          <a:xfrm>
            <a:off x="475893" y="1104929"/>
            <a:ext cx="4788316" cy="3928544"/>
          </a:xfrm>
          <a:prstGeom prst="rect">
            <a:avLst/>
          </a:prstGeom>
        </p:spPr>
      </p:pic>
      <p:sp>
        <p:nvSpPr>
          <p:cNvPr id="7" name="Rectangle 6"/>
          <p:cNvSpPr/>
          <p:nvPr/>
        </p:nvSpPr>
        <p:spPr>
          <a:xfrm>
            <a:off x="5418034" y="254623"/>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8" name="Picture 7"/>
          <p:cNvPicPr>
            <a:picLocks noChangeAspect="1"/>
          </p:cNvPicPr>
          <p:nvPr/>
        </p:nvPicPr>
        <p:blipFill>
          <a:blip r:embed="rId3"/>
          <a:stretch>
            <a:fillRect/>
          </a:stretch>
        </p:blipFill>
        <p:spPr>
          <a:xfrm>
            <a:off x="5418034" y="1392964"/>
            <a:ext cx="6063375" cy="3640509"/>
          </a:xfrm>
          <a:prstGeom prst="rect">
            <a:avLst/>
          </a:prstGeom>
        </p:spPr>
      </p:pic>
      <p:sp>
        <p:nvSpPr>
          <p:cNvPr id="9" name="Rectangle 8"/>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sz="1600" dirty="0" smtClean="0"/>
              <a:t>Null values were identified in key customer attributes such as age, gender, location, and join date. Using the COALESCE function, these missing fields were replaced with the placeholder “Unknown,” ensuring data completeness. This process improved dataset consistency and enabled more accurate customer segmentation and reporting.</a:t>
            </a:r>
          </a:p>
          <a:p>
            <a:endParaRPr lang="en-US" dirty="0"/>
          </a:p>
        </p:txBody>
      </p:sp>
    </p:spTree>
    <p:extLst>
      <p:ext uri="{BB962C8B-B14F-4D97-AF65-F5344CB8AC3E}">
        <p14:creationId xmlns:p14="http://schemas.microsoft.com/office/powerpoint/2010/main" val="19797661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808" y="136732"/>
            <a:ext cx="3404698" cy="1074633"/>
          </a:xfrm>
        </p:spPr>
        <p:txBody>
          <a:bodyPr>
            <a:normAutofit/>
          </a:bodyPr>
          <a:lstStyle/>
          <a:p>
            <a:r>
              <a:rPr lang="en-US" b="1" u="sng" dirty="0" smtClean="0"/>
              <a:t>Problem Statement:</a:t>
            </a:r>
            <a:br>
              <a:rPr lang="en-US" b="1" u="sng" dirty="0" smtClean="0"/>
            </a:br>
            <a:r>
              <a:rPr lang="en-US" b="1" u="sng" dirty="0" smtClean="0"/>
              <a:t>Cleaning Date</a:t>
            </a:r>
            <a:endParaRPr lang="en-US" dirty="0"/>
          </a:p>
        </p:txBody>
      </p:sp>
      <p:pic>
        <p:nvPicPr>
          <p:cNvPr id="6" name="Picture 5"/>
          <p:cNvPicPr>
            <a:picLocks noChangeAspect="1"/>
          </p:cNvPicPr>
          <p:nvPr/>
        </p:nvPicPr>
        <p:blipFill>
          <a:blip r:embed="rId2"/>
          <a:stretch>
            <a:fillRect/>
          </a:stretch>
        </p:blipFill>
        <p:spPr>
          <a:xfrm>
            <a:off x="4460905" y="136732"/>
            <a:ext cx="7486116" cy="4896740"/>
          </a:xfrm>
          <a:prstGeom prst="rect">
            <a:avLst/>
          </a:prstGeom>
        </p:spPr>
      </p:pic>
      <p:sp>
        <p:nvSpPr>
          <p:cNvPr id="7" name="Rectangle 6"/>
          <p:cNvSpPr/>
          <p:nvPr/>
        </p:nvSpPr>
        <p:spPr>
          <a:xfrm>
            <a:off x="839787" y="1211365"/>
            <a:ext cx="3270739" cy="6323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9" name="Picture 8"/>
          <p:cNvPicPr>
            <a:picLocks noChangeAspect="1"/>
          </p:cNvPicPr>
          <p:nvPr/>
        </p:nvPicPr>
        <p:blipFill>
          <a:blip r:embed="rId3"/>
          <a:stretch>
            <a:fillRect/>
          </a:stretch>
        </p:blipFill>
        <p:spPr>
          <a:xfrm>
            <a:off x="1018792" y="2082717"/>
            <a:ext cx="2681537" cy="3489141"/>
          </a:xfrm>
          <a:prstGeom prst="rect">
            <a:avLst/>
          </a:prstGeom>
        </p:spPr>
      </p:pic>
      <p:sp>
        <p:nvSpPr>
          <p:cNvPr id="10" name="Rectangle 9"/>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A new column was created to clean and standardize transaction dates in the dataset. The updated date format ensured uniformity across all records, resolving inconsistencies and improving data readiness for time-based analysis. This step enhances the accuracy of sales trend tracking and reporting.</a:t>
            </a:r>
          </a:p>
        </p:txBody>
      </p:sp>
    </p:spTree>
    <p:extLst>
      <p:ext uri="{BB962C8B-B14F-4D97-AF65-F5344CB8AC3E}">
        <p14:creationId xmlns:p14="http://schemas.microsoft.com/office/powerpoint/2010/main" val="36420180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385" y="376014"/>
            <a:ext cx="3567068" cy="690073"/>
          </a:xfrm>
        </p:spPr>
        <p:txBody>
          <a:bodyPr>
            <a:normAutofit fontScale="90000"/>
          </a:bodyPr>
          <a:lstStyle/>
          <a:p>
            <a:r>
              <a:rPr lang="en-US" b="1" u="sng" dirty="0" smtClean="0"/>
              <a:t>Problem Statement:</a:t>
            </a:r>
            <a:br>
              <a:rPr lang="en-US" b="1" u="sng" dirty="0" smtClean="0"/>
            </a:br>
            <a:r>
              <a:rPr lang="en-US" b="1" u="sng" dirty="0" smtClean="0"/>
              <a:t>Total Sales Summary</a:t>
            </a:r>
            <a:endParaRPr lang="en-US" dirty="0"/>
          </a:p>
        </p:txBody>
      </p:sp>
      <p:pic>
        <p:nvPicPr>
          <p:cNvPr id="6" name="Picture 5"/>
          <p:cNvPicPr>
            <a:picLocks noChangeAspect="1"/>
          </p:cNvPicPr>
          <p:nvPr/>
        </p:nvPicPr>
        <p:blipFill>
          <a:blip r:embed="rId2"/>
          <a:stretch>
            <a:fillRect/>
          </a:stretch>
        </p:blipFill>
        <p:spPr>
          <a:xfrm>
            <a:off x="538385" y="1281868"/>
            <a:ext cx="4477996" cy="3717422"/>
          </a:xfrm>
          <a:prstGeom prst="rect">
            <a:avLst/>
          </a:prstGeom>
        </p:spPr>
      </p:pic>
      <p:pic>
        <p:nvPicPr>
          <p:cNvPr id="7" name="Picture 6"/>
          <p:cNvPicPr>
            <a:picLocks noChangeAspect="1"/>
          </p:cNvPicPr>
          <p:nvPr/>
        </p:nvPicPr>
        <p:blipFill>
          <a:blip r:embed="rId3"/>
          <a:stretch>
            <a:fillRect/>
          </a:stretch>
        </p:blipFill>
        <p:spPr>
          <a:xfrm>
            <a:off x="5451416" y="1281868"/>
            <a:ext cx="5391150" cy="3896883"/>
          </a:xfrm>
          <a:prstGeom prst="rect">
            <a:avLst/>
          </a:prstGeom>
        </p:spPr>
      </p:pic>
      <p:sp>
        <p:nvSpPr>
          <p:cNvPr id="8" name="Rectangle 7"/>
          <p:cNvSpPr/>
          <p:nvPr/>
        </p:nvSpPr>
        <p:spPr>
          <a:xfrm>
            <a:off x="5418034" y="254623"/>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9" name="Rectangle 8"/>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p>
          <a:p>
            <a:r>
              <a:rPr lang="en-US" sz="1600" dirty="0" smtClean="0"/>
              <a:t>The analysis summarizes total sales performance by product, identifying the best-selling items based on both quantity sold and total revenue. Products with higher total sales indicate strong market demand, guiding inventory planning and promotional strategies to maximize profitability.</a:t>
            </a:r>
          </a:p>
          <a:p>
            <a:endParaRPr lang="en-US" sz="1600" dirty="0" smtClean="0"/>
          </a:p>
          <a:p>
            <a:endParaRPr lang="en-US" dirty="0"/>
          </a:p>
        </p:txBody>
      </p:sp>
    </p:spTree>
    <p:extLst>
      <p:ext uri="{BB962C8B-B14F-4D97-AF65-F5344CB8AC3E}">
        <p14:creationId xmlns:p14="http://schemas.microsoft.com/office/powerpoint/2010/main" val="4844118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854" y="-179462"/>
            <a:ext cx="3435410" cy="1766843"/>
          </a:xfrm>
        </p:spPr>
        <p:txBody>
          <a:bodyPr>
            <a:normAutofit/>
          </a:bodyPr>
          <a:lstStyle/>
          <a:p>
            <a:r>
              <a:rPr lang="en-US" sz="2600" b="1" u="sng" dirty="0" smtClean="0"/>
              <a:t>Problem Statement:</a:t>
            </a:r>
            <a:br>
              <a:rPr lang="en-US" sz="2600" b="1" u="sng" dirty="0" smtClean="0"/>
            </a:br>
            <a:r>
              <a:rPr lang="en-US" sz="2600" b="1" u="sng" dirty="0" smtClean="0"/>
              <a:t>Customer Purchase Frequency</a:t>
            </a:r>
            <a:endParaRPr lang="en-US" sz="2600" b="1" u="sng" dirty="0"/>
          </a:p>
        </p:txBody>
      </p:sp>
      <p:pic>
        <p:nvPicPr>
          <p:cNvPr id="5" name="Picture 4"/>
          <p:cNvPicPr>
            <a:picLocks noChangeAspect="1"/>
          </p:cNvPicPr>
          <p:nvPr/>
        </p:nvPicPr>
        <p:blipFill>
          <a:blip r:embed="rId2"/>
          <a:stretch>
            <a:fillRect/>
          </a:stretch>
        </p:blipFill>
        <p:spPr>
          <a:xfrm>
            <a:off x="762875" y="1587381"/>
            <a:ext cx="4388458" cy="3555051"/>
          </a:xfrm>
          <a:prstGeom prst="rect">
            <a:avLst/>
          </a:prstGeom>
        </p:spPr>
      </p:pic>
      <p:sp>
        <p:nvSpPr>
          <p:cNvPr id="6" name="Rectangle 5"/>
          <p:cNvSpPr/>
          <p:nvPr/>
        </p:nvSpPr>
        <p:spPr>
          <a:xfrm>
            <a:off x="5383851" y="633456"/>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7" name="Picture 6"/>
          <p:cNvPicPr>
            <a:picLocks noChangeAspect="1"/>
          </p:cNvPicPr>
          <p:nvPr/>
        </p:nvPicPr>
        <p:blipFill>
          <a:blip r:embed="rId3"/>
          <a:stretch>
            <a:fillRect/>
          </a:stretch>
        </p:blipFill>
        <p:spPr>
          <a:xfrm>
            <a:off x="5383851" y="1698476"/>
            <a:ext cx="4676775" cy="3614071"/>
          </a:xfrm>
          <a:prstGeom prst="rect">
            <a:avLst/>
          </a:prstGeom>
        </p:spPr>
      </p:pic>
      <p:sp>
        <p:nvSpPr>
          <p:cNvPr id="8" name="Rectangle 7"/>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p>
          <a:p>
            <a:r>
              <a:rPr lang="en-US" sz="1600" dirty="0" smtClean="0"/>
              <a:t>The analysis identifies customers with the highest number of transactions, highlighting frequent buyers who contribute significantly to overall sales. These insights help in recognizing loyal customers, enabling targeted marketing and personalized engagement strategies to improve retention and repeat purchases.</a:t>
            </a:r>
          </a:p>
          <a:p>
            <a:endParaRPr lang="en-US" sz="1600" dirty="0" smtClean="0"/>
          </a:p>
          <a:p>
            <a:endParaRPr lang="en-US" dirty="0"/>
          </a:p>
        </p:txBody>
      </p:sp>
    </p:spTree>
    <p:extLst>
      <p:ext uri="{BB962C8B-B14F-4D97-AF65-F5344CB8AC3E}">
        <p14:creationId xmlns:p14="http://schemas.microsoft.com/office/powerpoint/2010/main" val="3971082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961" y="106823"/>
            <a:ext cx="3932237" cy="1600200"/>
          </a:xfrm>
        </p:spPr>
        <p:txBody>
          <a:bodyPr>
            <a:normAutofit/>
          </a:bodyPr>
          <a:lstStyle/>
          <a:p>
            <a:r>
              <a:rPr lang="en-US" b="1" u="sng" dirty="0" smtClean="0"/>
              <a:t>Problem Statement:</a:t>
            </a:r>
            <a:br>
              <a:rPr lang="en-US" b="1" u="sng" dirty="0" smtClean="0"/>
            </a:br>
            <a:r>
              <a:rPr lang="en-US" b="1" u="sng" dirty="0" smtClean="0"/>
              <a:t>Product Categories Performance</a:t>
            </a:r>
            <a:endParaRPr lang="en-US" dirty="0"/>
          </a:p>
        </p:txBody>
      </p:sp>
      <p:pic>
        <p:nvPicPr>
          <p:cNvPr id="5" name="Picture 4"/>
          <p:cNvPicPr>
            <a:picLocks noChangeAspect="1"/>
          </p:cNvPicPr>
          <p:nvPr/>
        </p:nvPicPr>
        <p:blipFill>
          <a:blip r:embed="rId2"/>
          <a:stretch>
            <a:fillRect/>
          </a:stretch>
        </p:blipFill>
        <p:spPr>
          <a:xfrm>
            <a:off x="658961" y="1826663"/>
            <a:ext cx="5459828" cy="3198264"/>
          </a:xfrm>
          <a:prstGeom prst="rect">
            <a:avLst/>
          </a:prstGeom>
        </p:spPr>
      </p:pic>
      <p:sp>
        <p:nvSpPr>
          <p:cNvPr id="6" name="Rectangle 5"/>
          <p:cNvSpPr/>
          <p:nvPr/>
        </p:nvSpPr>
        <p:spPr>
          <a:xfrm>
            <a:off x="6178610" y="462540"/>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7" name="Picture 6"/>
          <p:cNvPicPr>
            <a:picLocks noChangeAspect="1"/>
          </p:cNvPicPr>
          <p:nvPr/>
        </p:nvPicPr>
        <p:blipFill>
          <a:blip r:embed="rId3"/>
          <a:stretch>
            <a:fillRect/>
          </a:stretch>
        </p:blipFill>
        <p:spPr>
          <a:xfrm>
            <a:off x="6264068" y="1388692"/>
            <a:ext cx="5927932" cy="3886200"/>
          </a:xfrm>
          <a:prstGeom prst="rect">
            <a:avLst/>
          </a:prstGeom>
        </p:spPr>
      </p:pic>
      <p:sp>
        <p:nvSpPr>
          <p:cNvPr id="8" name="Rectangle 7"/>
          <p:cNvSpPr/>
          <p:nvPr/>
        </p:nvSpPr>
        <p:spPr>
          <a:xfrm>
            <a:off x="623844" y="5272755"/>
            <a:ext cx="10810430" cy="14143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highlights category-wise sales performance, showing that </a:t>
            </a:r>
            <a:r>
              <a:rPr lang="en-US" b="1" dirty="0" smtClean="0"/>
              <a:t>Home &amp; Kitchen</a:t>
            </a:r>
            <a:r>
              <a:rPr lang="en-US" dirty="0" smtClean="0"/>
              <a:t> leads in both total units sold and revenue, followed by </a:t>
            </a:r>
            <a:r>
              <a:rPr lang="en-US" b="1" dirty="0" smtClean="0"/>
              <a:t>Electronics</a:t>
            </a:r>
            <a:r>
              <a:rPr lang="en-US" dirty="0" smtClean="0"/>
              <a:t> and </a:t>
            </a:r>
            <a:r>
              <a:rPr lang="en-US" b="1" dirty="0" smtClean="0"/>
              <a:t>Clothing</a:t>
            </a:r>
            <a:r>
              <a:rPr lang="en-US" dirty="0" smtClean="0"/>
              <a:t>. These insights help identify top-performing categories, guiding inventory allocation, marketing focus, and future sales strategies to maximize profitability.</a:t>
            </a:r>
          </a:p>
        </p:txBody>
      </p:sp>
    </p:spTree>
    <p:extLst>
      <p:ext uri="{BB962C8B-B14F-4D97-AF65-F5344CB8AC3E}">
        <p14:creationId xmlns:p14="http://schemas.microsoft.com/office/powerpoint/2010/main" val="28541094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542" y="0"/>
            <a:ext cx="3646755" cy="1230594"/>
          </a:xfrm>
        </p:spPr>
        <p:txBody>
          <a:bodyPr>
            <a:normAutofit/>
          </a:bodyPr>
          <a:lstStyle/>
          <a:p>
            <a:r>
              <a:rPr lang="en-US" b="1" u="sng" dirty="0" smtClean="0"/>
              <a:t>Problem Statement:</a:t>
            </a:r>
            <a:br>
              <a:rPr lang="en-US" b="1" u="sng" dirty="0" smtClean="0"/>
            </a:br>
            <a:r>
              <a:rPr lang="en-US" b="1" u="sng" dirty="0" smtClean="0"/>
              <a:t>High Sales Products</a:t>
            </a:r>
            <a:endParaRPr lang="en-US" dirty="0"/>
          </a:p>
        </p:txBody>
      </p:sp>
      <p:pic>
        <p:nvPicPr>
          <p:cNvPr id="5" name="Picture 4"/>
          <p:cNvPicPr>
            <a:picLocks noChangeAspect="1"/>
          </p:cNvPicPr>
          <p:nvPr/>
        </p:nvPicPr>
        <p:blipFill>
          <a:blip r:embed="rId2"/>
          <a:stretch>
            <a:fillRect/>
          </a:stretch>
        </p:blipFill>
        <p:spPr>
          <a:xfrm>
            <a:off x="833542" y="1330005"/>
            <a:ext cx="4046107" cy="4046107"/>
          </a:xfrm>
          <a:prstGeom prst="rect">
            <a:avLst/>
          </a:prstGeom>
        </p:spPr>
      </p:pic>
      <p:pic>
        <p:nvPicPr>
          <p:cNvPr id="6" name="Picture 5"/>
          <p:cNvPicPr>
            <a:picLocks noChangeAspect="1"/>
          </p:cNvPicPr>
          <p:nvPr/>
        </p:nvPicPr>
        <p:blipFill>
          <a:blip r:embed="rId3"/>
          <a:stretch>
            <a:fillRect/>
          </a:stretch>
        </p:blipFill>
        <p:spPr>
          <a:xfrm>
            <a:off x="5656870" y="1762614"/>
            <a:ext cx="4552950" cy="3886156"/>
          </a:xfrm>
          <a:prstGeom prst="rect">
            <a:avLst/>
          </a:prstGeom>
        </p:spPr>
      </p:pic>
      <p:sp>
        <p:nvSpPr>
          <p:cNvPr id="7" name="Rectangle 6"/>
          <p:cNvSpPr/>
          <p:nvPr/>
        </p:nvSpPr>
        <p:spPr>
          <a:xfrm>
            <a:off x="5656870" y="676185"/>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8" name="Rectangle 7"/>
          <p:cNvSpPr/>
          <p:nvPr/>
        </p:nvSpPr>
        <p:spPr>
          <a:xfrm>
            <a:off x="833542" y="5475523"/>
            <a:ext cx="10600732" cy="1211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identifies the top-performing products based on total revenue generated. Product ID 17 recorded the highest sales, followed by products 87 and 179. These insights help the business focus on high-demand items, optimize inventory planning, and design targeted promotions to boost overall sales performance.</a:t>
            </a:r>
          </a:p>
        </p:txBody>
      </p:sp>
    </p:spTree>
    <p:extLst>
      <p:ext uri="{BB962C8B-B14F-4D97-AF65-F5344CB8AC3E}">
        <p14:creationId xmlns:p14="http://schemas.microsoft.com/office/powerpoint/2010/main" val="8188090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300" y="222191"/>
            <a:ext cx="3584160" cy="1057542"/>
          </a:xfrm>
        </p:spPr>
        <p:txBody>
          <a:bodyPr>
            <a:normAutofit/>
          </a:bodyPr>
          <a:lstStyle/>
          <a:p>
            <a:r>
              <a:rPr lang="en-US" b="1" u="sng" dirty="0" smtClean="0"/>
              <a:t>Problem Statement:</a:t>
            </a:r>
            <a:br>
              <a:rPr lang="en-US" b="1" u="sng" dirty="0" smtClean="0"/>
            </a:br>
            <a:r>
              <a:rPr lang="en-US" b="1" u="sng" dirty="0" smtClean="0"/>
              <a:t>Sales Trend</a:t>
            </a:r>
            <a:endParaRPr lang="en-US" dirty="0"/>
          </a:p>
        </p:txBody>
      </p:sp>
      <p:pic>
        <p:nvPicPr>
          <p:cNvPr id="5" name="Picture 4"/>
          <p:cNvPicPr>
            <a:picLocks noChangeAspect="1"/>
          </p:cNvPicPr>
          <p:nvPr/>
        </p:nvPicPr>
        <p:blipFill>
          <a:blip r:embed="rId2"/>
          <a:stretch>
            <a:fillRect/>
          </a:stretch>
        </p:blipFill>
        <p:spPr>
          <a:xfrm>
            <a:off x="572568" y="1279733"/>
            <a:ext cx="4948015" cy="3899018"/>
          </a:xfrm>
          <a:prstGeom prst="rect">
            <a:avLst/>
          </a:prstGeom>
        </p:spPr>
      </p:pic>
      <p:pic>
        <p:nvPicPr>
          <p:cNvPr id="6" name="Picture 5"/>
          <p:cNvPicPr>
            <a:picLocks noChangeAspect="1"/>
          </p:cNvPicPr>
          <p:nvPr/>
        </p:nvPicPr>
        <p:blipFill>
          <a:blip r:embed="rId3"/>
          <a:stretch>
            <a:fillRect/>
          </a:stretch>
        </p:blipFill>
        <p:spPr>
          <a:xfrm>
            <a:off x="5836777" y="1450203"/>
            <a:ext cx="5832994" cy="4058526"/>
          </a:xfrm>
          <a:prstGeom prst="rect">
            <a:avLst/>
          </a:prstGeom>
        </p:spPr>
      </p:pic>
      <p:sp>
        <p:nvSpPr>
          <p:cNvPr id="7" name="Rectangle 6"/>
          <p:cNvSpPr/>
          <p:nvPr/>
        </p:nvSpPr>
        <p:spPr>
          <a:xfrm>
            <a:off x="5836777" y="486042"/>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8" name="Rectangle 7"/>
          <p:cNvSpPr/>
          <p:nvPr/>
        </p:nvSpPr>
        <p:spPr>
          <a:xfrm>
            <a:off x="833542" y="5475523"/>
            <a:ext cx="10600732" cy="1211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tracks daily sales performance by summarizing total transactions, units sold, and revenue over time. The data shows fluctuations in sales volume, indicating varying customer activity across dates. These insights help identify peak sales days, assess seasonal trends, and support data-driven sales forecasting.</a:t>
            </a:r>
          </a:p>
        </p:txBody>
      </p:sp>
    </p:spTree>
    <p:extLst>
      <p:ext uri="{BB962C8B-B14F-4D97-AF65-F5344CB8AC3E}">
        <p14:creationId xmlns:p14="http://schemas.microsoft.com/office/powerpoint/2010/main" val="23305245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8513" y="247828"/>
            <a:ext cx="3584160" cy="1057542"/>
          </a:xfrm>
        </p:spPr>
        <p:txBody>
          <a:bodyPr>
            <a:normAutofit/>
          </a:bodyPr>
          <a:lstStyle/>
          <a:p>
            <a:r>
              <a:rPr lang="en-US" b="1" u="sng" dirty="0" smtClean="0"/>
              <a:t>Problem Statement:</a:t>
            </a:r>
            <a:br>
              <a:rPr lang="en-US" b="1" u="sng" dirty="0" smtClean="0"/>
            </a:br>
            <a:r>
              <a:rPr lang="en-US" b="1" u="sng" dirty="0" smtClean="0"/>
              <a:t>Low Sales Products</a:t>
            </a:r>
            <a:endParaRPr lang="en-US" dirty="0"/>
          </a:p>
        </p:txBody>
      </p:sp>
      <p:pic>
        <p:nvPicPr>
          <p:cNvPr id="5" name="Picture 4"/>
          <p:cNvPicPr>
            <a:picLocks noChangeAspect="1"/>
          </p:cNvPicPr>
          <p:nvPr/>
        </p:nvPicPr>
        <p:blipFill>
          <a:blip r:embed="rId2"/>
          <a:stretch>
            <a:fillRect/>
          </a:stretch>
        </p:blipFill>
        <p:spPr>
          <a:xfrm>
            <a:off x="788513" y="1400308"/>
            <a:ext cx="4543425" cy="3971925"/>
          </a:xfrm>
          <a:prstGeom prst="rect">
            <a:avLst/>
          </a:prstGeom>
        </p:spPr>
      </p:pic>
      <p:pic>
        <p:nvPicPr>
          <p:cNvPr id="6" name="Picture 5"/>
          <p:cNvPicPr>
            <a:picLocks noChangeAspect="1"/>
          </p:cNvPicPr>
          <p:nvPr/>
        </p:nvPicPr>
        <p:blipFill>
          <a:blip r:embed="rId3"/>
          <a:stretch>
            <a:fillRect/>
          </a:stretch>
        </p:blipFill>
        <p:spPr>
          <a:xfrm>
            <a:off x="5813410" y="1843265"/>
            <a:ext cx="5248275" cy="3667125"/>
          </a:xfrm>
          <a:prstGeom prst="rect">
            <a:avLst/>
          </a:prstGeom>
        </p:spPr>
      </p:pic>
      <p:sp>
        <p:nvSpPr>
          <p:cNvPr id="7" name="Rectangle 6"/>
          <p:cNvSpPr/>
          <p:nvPr/>
        </p:nvSpPr>
        <p:spPr>
          <a:xfrm>
            <a:off x="5813410" y="511679"/>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8" name="Rectangle 7"/>
          <p:cNvSpPr/>
          <p:nvPr/>
        </p:nvSpPr>
        <p:spPr>
          <a:xfrm>
            <a:off x="833542" y="5475523"/>
            <a:ext cx="10600732" cy="1211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p>
          <a:p>
            <a:r>
              <a:rPr lang="en-US" dirty="0" smtClean="0"/>
              <a:t>The analysis identifies products with the lowest sales volumes, such as Product IDs 142 and 33, which have minimal customer demand. These findings help the business assess underperforming items, optimize inventory management, and plan targeted promotional or discount strategies to improve sales performance.</a:t>
            </a:r>
          </a:p>
          <a:p>
            <a:endParaRPr lang="en-US" dirty="0" smtClean="0"/>
          </a:p>
        </p:txBody>
      </p:sp>
    </p:spTree>
    <p:extLst>
      <p:ext uri="{BB962C8B-B14F-4D97-AF65-F5344CB8AC3E}">
        <p14:creationId xmlns:p14="http://schemas.microsoft.com/office/powerpoint/2010/main" val="23021242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264" y="145278"/>
            <a:ext cx="3635434" cy="1151546"/>
          </a:xfrm>
        </p:spPr>
        <p:txBody>
          <a:bodyPr>
            <a:normAutofit/>
          </a:bodyPr>
          <a:lstStyle/>
          <a:p>
            <a:r>
              <a:rPr lang="en-US" b="1" u="sng" dirty="0" smtClean="0"/>
              <a:t>Problem Statement:</a:t>
            </a:r>
            <a:br>
              <a:rPr lang="en-US" b="1" u="sng" dirty="0" smtClean="0"/>
            </a:br>
            <a:r>
              <a:rPr lang="en-US" b="1" u="sng" dirty="0" smtClean="0"/>
              <a:t>Growth Rate of Sales</a:t>
            </a:r>
            <a:endParaRPr lang="en-US" dirty="0"/>
          </a:p>
        </p:txBody>
      </p:sp>
      <p:pic>
        <p:nvPicPr>
          <p:cNvPr id="5" name="Picture 4"/>
          <p:cNvPicPr>
            <a:picLocks noChangeAspect="1"/>
          </p:cNvPicPr>
          <p:nvPr/>
        </p:nvPicPr>
        <p:blipFill>
          <a:blip r:embed="rId2"/>
          <a:stretch>
            <a:fillRect/>
          </a:stretch>
        </p:blipFill>
        <p:spPr>
          <a:xfrm>
            <a:off x="350377" y="1598064"/>
            <a:ext cx="9787154" cy="3469592"/>
          </a:xfrm>
          <a:prstGeom prst="rect">
            <a:avLst/>
          </a:prstGeom>
        </p:spPr>
      </p:pic>
      <p:sp>
        <p:nvSpPr>
          <p:cNvPr id="8" name="Rectangle 7"/>
          <p:cNvSpPr/>
          <p:nvPr/>
        </p:nvSpPr>
        <p:spPr>
          <a:xfrm>
            <a:off x="464264" y="5368896"/>
            <a:ext cx="10687997" cy="1365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tracks the month-over-month (</a:t>
            </a:r>
            <a:r>
              <a:rPr lang="en-US" dirty="0" err="1" smtClean="0"/>
              <a:t>MoM</a:t>
            </a:r>
            <a:r>
              <a:rPr lang="en-US" dirty="0" smtClean="0"/>
              <a:t>) sales growth to evaluate performance trends over time. While some months show positive growth (e.g., Month 3 with +6.81%), others reflect a decline (e.g., Month 7 with -10.99%), indicating fluctuating sales performance. These insights help identify strong and weak periods, enabling better forecasting and targeted sales improvement strategies.</a:t>
            </a:r>
          </a:p>
        </p:txBody>
      </p:sp>
    </p:spTree>
    <p:extLst>
      <p:ext uri="{BB962C8B-B14F-4D97-AF65-F5344CB8AC3E}">
        <p14:creationId xmlns:p14="http://schemas.microsoft.com/office/powerpoint/2010/main" val="26644649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96526" y="1141612"/>
            <a:ext cx="10216453" cy="5431083"/>
          </a:xfrm>
          <a:prstGeom prst="rect">
            <a:avLst/>
          </a:prstGeom>
        </p:spPr>
      </p:pic>
      <p:sp>
        <p:nvSpPr>
          <p:cNvPr id="4" name="Rectangle 3"/>
          <p:cNvSpPr/>
          <p:nvPr/>
        </p:nvSpPr>
        <p:spPr>
          <a:xfrm>
            <a:off x="2583100" y="245871"/>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Tree>
    <p:extLst>
      <p:ext uri="{BB962C8B-B14F-4D97-AF65-F5344CB8AC3E}">
        <p14:creationId xmlns:p14="http://schemas.microsoft.com/office/powerpoint/2010/main" val="15462608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209" y="230737"/>
            <a:ext cx="3247402" cy="1433555"/>
          </a:xfrm>
        </p:spPr>
        <p:txBody>
          <a:bodyPr>
            <a:normAutofit fontScale="90000"/>
          </a:bodyPr>
          <a:lstStyle/>
          <a:p>
            <a:r>
              <a:rPr lang="en-US" b="1" u="sng" dirty="0" smtClean="0"/>
              <a:t>Problem Statement:</a:t>
            </a:r>
            <a:br>
              <a:rPr lang="en-US" b="1" u="sng" dirty="0" smtClean="0"/>
            </a:br>
            <a:r>
              <a:rPr lang="en-US" b="1" u="sng" dirty="0" smtClean="0"/>
              <a:t>High Purchase Frequency </a:t>
            </a:r>
            <a:endParaRPr lang="en-US" dirty="0"/>
          </a:p>
        </p:txBody>
      </p:sp>
      <p:pic>
        <p:nvPicPr>
          <p:cNvPr id="5" name="Picture 4"/>
          <p:cNvPicPr>
            <a:picLocks noChangeAspect="1"/>
          </p:cNvPicPr>
          <p:nvPr/>
        </p:nvPicPr>
        <p:blipFill>
          <a:blip r:embed="rId2"/>
          <a:stretch>
            <a:fillRect/>
          </a:stretch>
        </p:blipFill>
        <p:spPr>
          <a:xfrm>
            <a:off x="478209" y="1752640"/>
            <a:ext cx="5210931" cy="3334996"/>
          </a:xfrm>
          <a:prstGeom prst="rect">
            <a:avLst/>
          </a:prstGeom>
        </p:spPr>
      </p:pic>
      <p:pic>
        <p:nvPicPr>
          <p:cNvPr id="6" name="Picture 5"/>
          <p:cNvPicPr>
            <a:picLocks noChangeAspect="1"/>
          </p:cNvPicPr>
          <p:nvPr/>
        </p:nvPicPr>
        <p:blipFill>
          <a:blip r:embed="rId3"/>
          <a:stretch>
            <a:fillRect/>
          </a:stretch>
        </p:blipFill>
        <p:spPr>
          <a:xfrm>
            <a:off x="6229884" y="1548294"/>
            <a:ext cx="4640366" cy="3743689"/>
          </a:xfrm>
          <a:prstGeom prst="rect">
            <a:avLst/>
          </a:prstGeom>
        </p:spPr>
      </p:pic>
      <p:sp>
        <p:nvSpPr>
          <p:cNvPr id="7" name="Rectangle 6"/>
          <p:cNvSpPr/>
          <p:nvPr/>
        </p:nvSpPr>
        <p:spPr>
          <a:xfrm>
            <a:off x="6229884" y="494588"/>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8" name="Rectangle 7"/>
          <p:cNvSpPr/>
          <p:nvPr/>
        </p:nvSpPr>
        <p:spPr>
          <a:xfrm>
            <a:off x="464264" y="5368896"/>
            <a:ext cx="10687997" cy="1365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identifies high-value customers with more than 10 transactions and total spending above 1000. Customers like IDs </a:t>
            </a:r>
            <a:r>
              <a:rPr lang="en-US" b="1" dirty="0" smtClean="0"/>
              <a:t>936</a:t>
            </a:r>
            <a:r>
              <a:rPr lang="en-US" dirty="0" smtClean="0"/>
              <a:t> and </a:t>
            </a:r>
            <a:r>
              <a:rPr lang="en-US" b="1" dirty="0" smtClean="0"/>
              <a:t>664</a:t>
            </a:r>
            <a:r>
              <a:rPr lang="en-US" dirty="0" smtClean="0"/>
              <a:t> show strong purchase frequency and loyalty. These insights help in targeting premium customers with personalized offers, loyalty programs, and retention-focused marketing strategies.</a:t>
            </a:r>
          </a:p>
        </p:txBody>
      </p:sp>
    </p:spTree>
    <p:extLst>
      <p:ext uri="{BB962C8B-B14F-4D97-AF65-F5344CB8AC3E}">
        <p14:creationId xmlns:p14="http://schemas.microsoft.com/office/powerpoint/2010/main" val="6399082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210" y="205098"/>
            <a:ext cx="3549976" cy="937901"/>
          </a:xfrm>
        </p:spPr>
        <p:txBody>
          <a:bodyPr>
            <a:normAutofit fontScale="90000"/>
          </a:bodyPr>
          <a:lstStyle/>
          <a:p>
            <a:r>
              <a:rPr lang="en-US" b="1" u="sng" dirty="0" smtClean="0"/>
              <a:t>Problem Statement:</a:t>
            </a:r>
            <a:br>
              <a:rPr lang="en-US" b="1" u="sng" dirty="0" smtClean="0"/>
            </a:br>
            <a:r>
              <a:rPr lang="en-US" b="1" u="sng" dirty="0" err="1" smtClean="0"/>
              <a:t>Occassional</a:t>
            </a:r>
            <a:r>
              <a:rPr lang="en-US" b="1" u="sng" dirty="0" smtClean="0"/>
              <a:t> Customers</a:t>
            </a:r>
            <a:endParaRPr lang="en-US" dirty="0"/>
          </a:p>
        </p:txBody>
      </p:sp>
      <p:pic>
        <p:nvPicPr>
          <p:cNvPr id="5" name="Picture 4"/>
          <p:cNvPicPr>
            <a:picLocks noChangeAspect="1"/>
          </p:cNvPicPr>
          <p:nvPr/>
        </p:nvPicPr>
        <p:blipFill>
          <a:blip r:embed="rId2"/>
          <a:stretch>
            <a:fillRect/>
          </a:stretch>
        </p:blipFill>
        <p:spPr>
          <a:xfrm>
            <a:off x="692210" y="1512606"/>
            <a:ext cx="4901948" cy="3430113"/>
          </a:xfrm>
          <a:prstGeom prst="rect">
            <a:avLst/>
          </a:prstGeom>
        </p:spPr>
      </p:pic>
      <p:sp>
        <p:nvSpPr>
          <p:cNvPr id="6" name="Rectangle 5"/>
          <p:cNvSpPr/>
          <p:nvPr/>
        </p:nvSpPr>
        <p:spPr>
          <a:xfrm>
            <a:off x="5879505" y="503134"/>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7" name="Picture 6"/>
          <p:cNvPicPr>
            <a:picLocks noChangeAspect="1"/>
          </p:cNvPicPr>
          <p:nvPr/>
        </p:nvPicPr>
        <p:blipFill>
          <a:blip r:embed="rId3"/>
          <a:stretch>
            <a:fillRect/>
          </a:stretch>
        </p:blipFill>
        <p:spPr>
          <a:xfrm>
            <a:off x="5716290" y="1512606"/>
            <a:ext cx="5419725" cy="4124325"/>
          </a:xfrm>
          <a:prstGeom prst="rect">
            <a:avLst/>
          </a:prstGeom>
        </p:spPr>
      </p:pic>
      <p:sp>
        <p:nvSpPr>
          <p:cNvPr id="8" name="Rectangle 7"/>
          <p:cNvSpPr/>
          <p:nvPr/>
        </p:nvSpPr>
        <p:spPr>
          <a:xfrm>
            <a:off x="464264" y="5368896"/>
            <a:ext cx="10687997" cy="1365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Analysis:</a:t>
            </a:r>
          </a:p>
          <a:p>
            <a:r>
              <a:rPr lang="en-US" dirty="0" smtClean="0"/>
              <a:t>The analysis identifies occasional customers who have made only one or two purchases. These low-frequency buyers contribute minimally to total revenue but represent potential growth opportunities. Targeted re-engagement strategies, such as personalized discounts or loyalty offers, can help convert them into repeat customers and boost retention.</a:t>
            </a:r>
          </a:p>
        </p:txBody>
      </p:sp>
    </p:spTree>
    <p:extLst>
      <p:ext uri="{BB962C8B-B14F-4D97-AF65-F5344CB8AC3E}">
        <p14:creationId xmlns:p14="http://schemas.microsoft.com/office/powerpoint/2010/main" val="202448711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33285"/>
            <a:ext cx="3569368" cy="784077"/>
          </a:xfrm>
        </p:spPr>
        <p:txBody>
          <a:bodyPr>
            <a:normAutofit fontScale="90000"/>
          </a:bodyPr>
          <a:lstStyle/>
          <a:p>
            <a:r>
              <a:rPr lang="en-US" b="1" u="sng" dirty="0" smtClean="0"/>
              <a:t>Problem Statement:</a:t>
            </a:r>
            <a:br>
              <a:rPr lang="en-US" b="1" u="sng" dirty="0" smtClean="0"/>
            </a:br>
            <a:r>
              <a:rPr lang="en-US" b="1" u="sng" dirty="0" smtClean="0"/>
              <a:t>Repeated </a:t>
            </a:r>
            <a:r>
              <a:rPr lang="en-US" b="1" u="sng" dirty="0" smtClean="0"/>
              <a:t>Purchases</a:t>
            </a:r>
            <a:endParaRPr lang="en-US" dirty="0"/>
          </a:p>
        </p:txBody>
      </p:sp>
      <p:pic>
        <p:nvPicPr>
          <p:cNvPr id="5" name="Picture 4"/>
          <p:cNvPicPr>
            <a:picLocks noChangeAspect="1"/>
          </p:cNvPicPr>
          <p:nvPr/>
        </p:nvPicPr>
        <p:blipFill>
          <a:blip r:embed="rId2"/>
          <a:stretch>
            <a:fillRect/>
          </a:stretch>
        </p:blipFill>
        <p:spPr>
          <a:xfrm>
            <a:off x="637996" y="1117362"/>
            <a:ext cx="4633417" cy="3982339"/>
          </a:xfrm>
          <a:prstGeom prst="rect">
            <a:avLst/>
          </a:prstGeom>
        </p:spPr>
      </p:pic>
      <p:pic>
        <p:nvPicPr>
          <p:cNvPr id="6" name="Picture 5"/>
          <p:cNvPicPr>
            <a:picLocks noChangeAspect="1"/>
          </p:cNvPicPr>
          <p:nvPr/>
        </p:nvPicPr>
        <p:blipFill>
          <a:blip r:embed="rId3"/>
          <a:stretch>
            <a:fillRect/>
          </a:stretch>
        </p:blipFill>
        <p:spPr>
          <a:xfrm>
            <a:off x="6126944" y="1117362"/>
            <a:ext cx="5456445" cy="4368860"/>
          </a:xfrm>
          <a:prstGeom prst="rect">
            <a:avLst/>
          </a:prstGeom>
        </p:spPr>
      </p:pic>
      <p:sp>
        <p:nvSpPr>
          <p:cNvPr id="7" name="Rectangle 6"/>
          <p:cNvSpPr/>
          <p:nvPr/>
        </p:nvSpPr>
        <p:spPr>
          <a:xfrm>
            <a:off x="6131652" y="460403"/>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
        <p:nvSpPr>
          <p:cNvPr id="8" name="Rectangle 7"/>
          <p:cNvSpPr/>
          <p:nvPr/>
        </p:nvSpPr>
        <p:spPr>
          <a:xfrm>
            <a:off x="461473" y="5226821"/>
            <a:ext cx="11121915" cy="150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p>
          <a:p>
            <a:r>
              <a:rPr lang="en-US" dirty="0" smtClean="0"/>
              <a:t>The analysis identifies customers who made repeated purchases of the same products, indicating strong brand or product loyalty. Customers like ID 685, who purchased Product 192 multiple times, highlight valuable retention opportunities. These insights can guide loyalty programs, cross-selling efforts, and personalized marketing to enhance repeat sales.</a:t>
            </a:r>
          </a:p>
          <a:p>
            <a:endParaRPr lang="en-US" dirty="0" smtClean="0"/>
          </a:p>
        </p:txBody>
      </p:sp>
    </p:spTree>
    <p:extLst>
      <p:ext uri="{BB962C8B-B14F-4D97-AF65-F5344CB8AC3E}">
        <p14:creationId xmlns:p14="http://schemas.microsoft.com/office/powerpoint/2010/main" val="22954450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751" y="170916"/>
            <a:ext cx="3584160" cy="997721"/>
          </a:xfrm>
        </p:spPr>
        <p:txBody>
          <a:bodyPr>
            <a:normAutofit/>
          </a:bodyPr>
          <a:lstStyle/>
          <a:p>
            <a:r>
              <a:rPr lang="en-US" b="1" u="sng" dirty="0" smtClean="0"/>
              <a:t>Problem Statement:</a:t>
            </a:r>
            <a:br>
              <a:rPr lang="en-US" b="1" u="sng" dirty="0" smtClean="0"/>
            </a:br>
            <a:r>
              <a:rPr lang="en-US" b="1" u="sng" dirty="0" smtClean="0"/>
              <a:t>Loyalty Indicators</a:t>
            </a:r>
            <a:endParaRPr lang="en-US" dirty="0"/>
          </a:p>
        </p:txBody>
      </p:sp>
      <p:pic>
        <p:nvPicPr>
          <p:cNvPr id="10" name="Picture 9"/>
          <p:cNvPicPr>
            <a:picLocks noChangeAspect="1"/>
          </p:cNvPicPr>
          <p:nvPr/>
        </p:nvPicPr>
        <p:blipFill>
          <a:blip r:embed="rId2"/>
          <a:stretch>
            <a:fillRect/>
          </a:stretch>
        </p:blipFill>
        <p:spPr>
          <a:xfrm>
            <a:off x="693856" y="1674977"/>
            <a:ext cx="9894384" cy="3401226"/>
          </a:xfrm>
          <a:prstGeom prst="rect">
            <a:avLst/>
          </a:prstGeom>
        </p:spPr>
      </p:pic>
      <p:sp>
        <p:nvSpPr>
          <p:cNvPr id="12" name="Rectangle 11"/>
          <p:cNvSpPr/>
          <p:nvPr/>
        </p:nvSpPr>
        <p:spPr>
          <a:xfrm>
            <a:off x="461473" y="5226821"/>
            <a:ext cx="11121915" cy="1507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p>
          <a:p>
            <a:r>
              <a:rPr lang="en-US" dirty="0" smtClean="0"/>
              <a:t>Analysis:</a:t>
            </a:r>
            <a:br>
              <a:rPr lang="en-US" dirty="0" smtClean="0"/>
            </a:br>
            <a:r>
              <a:rPr lang="en-US" dirty="0" smtClean="0"/>
              <a:t>The analysis measures customer loyalty by calculating the number of days between each customer's first and last purchase. Customers with longer engagement periods, such as IDs 215 and 414, show consistent purchasing behavior over several months. These insights help identify loyal customers and evaluate retention effectiveness, guiding customer relationship and loyalty strategies.</a:t>
            </a:r>
          </a:p>
          <a:p>
            <a:endParaRPr lang="en-US" dirty="0" smtClean="0"/>
          </a:p>
        </p:txBody>
      </p:sp>
    </p:spTree>
    <p:extLst>
      <p:ext uri="{BB962C8B-B14F-4D97-AF65-F5344CB8AC3E}">
        <p14:creationId xmlns:p14="http://schemas.microsoft.com/office/powerpoint/2010/main" val="12218379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2044" y="1451628"/>
            <a:ext cx="9121078" cy="4552950"/>
          </a:xfrm>
          <a:prstGeom prst="rect">
            <a:avLst/>
          </a:prstGeom>
        </p:spPr>
      </p:pic>
      <p:sp>
        <p:nvSpPr>
          <p:cNvPr id="3" name="Rectangle 2"/>
          <p:cNvSpPr/>
          <p:nvPr/>
        </p:nvSpPr>
        <p:spPr>
          <a:xfrm>
            <a:off x="3055166" y="272395"/>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spTree>
    <p:extLst>
      <p:ext uri="{BB962C8B-B14F-4D97-AF65-F5344CB8AC3E}">
        <p14:creationId xmlns:p14="http://schemas.microsoft.com/office/powerpoint/2010/main" val="28373404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564" y="179462"/>
            <a:ext cx="3849079" cy="997722"/>
          </a:xfrm>
        </p:spPr>
        <p:txBody>
          <a:bodyPr>
            <a:normAutofit fontScale="90000"/>
          </a:bodyPr>
          <a:lstStyle/>
          <a:p>
            <a:r>
              <a:rPr lang="en-US" b="1" u="sng" dirty="0" smtClean="0"/>
              <a:t>Problem Statement:</a:t>
            </a:r>
            <a:br>
              <a:rPr lang="en-US" b="1" u="sng" dirty="0" smtClean="0"/>
            </a:br>
            <a:r>
              <a:rPr lang="en-US" b="1" u="sng" dirty="0" smtClean="0"/>
              <a:t>Customer Segmentation</a:t>
            </a:r>
            <a:endParaRPr lang="en-US" dirty="0"/>
          </a:p>
        </p:txBody>
      </p:sp>
      <p:pic>
        <p:nvPicPr>
          <p:cNvPr id="5" name="Picture 4"/>
          <p:cNvPicPr>
            <a:picLocks noChangeAspect="1"/>
          </p:cNvPicPr>
          <p:nvPr/>
        </p:nvPicPr>
        <p:blipFill>
          <a:blip r:embed="rId2"/>
          <a:stretch>
            <a:fillRect/>
          </a:stretch>
        </p:blipFill>
        <p:spPr>
          <a:xfrm>
            <a:off x="478564" y="1177184"/>
            <a:ext cx="4349810" cy="2209800"/>
          </a:xfrm>
          <a:prstGeom prst="rect">
            <a:avLst/>
          </a:prstGeom>
        </p:spPr>
      </p:pic>
      <p:sp>
        <p:nvSpPr>
          <p:cNvPr id="6" name="Rectangle 5"/>
          <p:cNvSpPr/>
          <p:nvPr/>
        </p:nvSpPr>
        <p:spPr>
          <a:xfrm>
            <a:off x="5362530" y="280942"/>
            <a:ext cx="5093294" cy="5298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SQL QUERY</a:t>
            </a:r>
            <a:endParaRPr lang="en-US" dirty="0"/>
          </a:p>
        </p:txBody>
      </p:sp>
      <p:pic>
        <p:nvPicPr>
          <p:cNvPr id="7" name="Picture 6"/>
          <p:cNvPicPr>
            <a:picLocks noChangeAspect="1"/>
          </p:cNvPicPr>
          <p:nvPr/>
        </p:nvPicPr>
        <p:blipFill>
          <a:blip r:embed="rId3"/>
          <a:stretch>
            <a:fillRect/>
          </a:stretch>
        </p:blipFill>
        <p:spPr>
          <a:xfrm>
            <a:off x="5207772" y="943455"/>
            <a:ext cx="6269230" cy="5541246"/>
          </a:xfrm>
          <a:prstGeom prst="rect">
            <a:avLst/>
          </a:prstGeom>
        </p:spPr>
      </p:pic>
      <p:sp>
        <p:nvSpPr>
          <p:cNvPr id="8" name="Rectangle 7"/>
          <p:cNvSpPr/>
          <p:nvPr/>
        </p:nvSpPr>
        <p:spPr>
          <a:xfrm>
            <a:off x="478564" y="3332860"/>
            <a:ext cx="4289143" cy="33511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Analysis:</a:t>
            </a:r>
          </a:p>
          <a:p>
            <a:pPr algn="ctr"/>
            <a:r>
              <a:rPr lang="en-US" dirty="0" smtClean="0"/>
              <a:t>The analysis segments customers based on total quantity purchased into </a:t>
            </a:r>
            <a:r>
              <a:rPr lang="en-US" b="1" dirty="0" smtClean="0"/>
              <a:t>Low</a:t>
            </a:r>
            <a:r>
              <a:rPr lang="en-US" dirty="0" smtClean="0"/>
              <a:t>, </a:t>
            </a:r>
            <a:r>
              <a:rPr lang="en-US" b="1" dirty="0" smtClean="0"/>
              <a:t>Medium</a:t>
            </a:r>
            <a:r>
              <a:rPr lang="en-US" dirty="0" smtClean="0"/>
              <a:t>, and </a:t>
            </a:r>
            <a:r>
              <a:rPr lang="en-US" b="1" dirty="0" smtClean="0"/>
              <a:t>High</a:t>
            </a:r>
            <a:r>
              <a:rPr lang="en-US" dirty="0" smtClean="0"/>
              <a:t> value groups. The majority of customers fall under the </a:t>
            </a:r>
            <a:r>
              <a:rPr lang="en-US" b="1" dirty="0" smtClean="0"/>
              <a:t>Medium</a:t>
            </a:r>
            <a:r>
              <a:rPr lang="en-US" dirty="0" smtClean="0"/>
              <a:t> segment (559), followed by </a:t>
            </a:r>
            <a:r>
              <a:rPr lang="en-US" b="1" dirty="0" smtClean="0"/>
              <a:t>Low</a:t>
            </a:r>
            <a:r>
              <a:rPr lang="en-US" dirty="0" smtClean="0"/>
              <a:t> (423) and a few </a:t>
            </a:r>
            <a:r>
              <a:rPr lang="en-US" b="1" dirty="0" smtClean="0"/>
              <a:t>High-value</a:t>
            </a:r>
            <a:r>
              <a:rPr lang="en-US" dirty="0" smtClean="0"/>
              <a:t> customers (7). This segmentation helps in tailoring marketing campaigns, optimizing engagement strategies, and prioritizing resources toward high-value customers.</a:t>
            </a:r>
          </a:p>
          <a:p>
            <a:pPr algn="ctr"/>
            <a:endParaRPr lang="en-US" dirty="0"/>
          </a:p>
        </p:txBody>
      </p:sp>
    </p:spTree>
    <p:extLst>
      <p:ext uri="{BB962C8B-B14F-4D97-AF65-F5344CB8AC3E}">
        <p14:creationId xmlns:p14="http://schemas.microsoft.com/office/powerpoint/2010/main" val="27462748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289</TotalTime>
  <Words>1223</Words>
  <Application>Microsoft Office PowerPoint</Application>
  <PresentationFormat>Widescreen</PresentationFormat>
  <Paragraphs>99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Retail Analytics Case Study </vt:lpstr>
      <vt:lpstr>Overview</vt:lpstr>
      <vt:lpstr>Business Problem</vt:lpstr>
      <vt:lpstr>Objectives: </vt:lpstr>
      <vt:lpstr>Datasets Tables: </vt:lpstr>
      <vt:lpstr>Problem Statement: Remove Duplicates</vt:lpstr>
      <vt:lpstr>Problem Statement: Fix Incorrect Prices </vt:lpstr>
      <vt:lpstr>Problem Statement : Fixing Null Values</vt:lpstr>
      <vt:lpstr>Problem Statement: Cleaning Date</vt:lpstr>
      <vt:lpstr>Problem Statement: Total Sales Summary</vt:lpstr>
      <vt:lpstr>Problem Statement: Customer Purchase Frequency</vt:lpstr>
      <vt:lpstr>Problem Statement: Product Categories Performance</vt:lpstr>
      <vt:lpstr>Problem Statement: High Sales Products</vt:lpstr>
      <vt:lpstr>Problem Statement: Sales Trend</vt:lpstr>
      <vt:lpstr>Problem Statement: Low Sales Products</vt:lpstr>
      <vt:lpstr>Problem Statement: Growth Rate of Sales</vt:lpstr>
      <vt:lpstr>PowerPoint Presentation</vt:lpstr>
      <vt:lpstr>Problem Statement: High Purchase Frequency </vt:lpstr>
      <vt:lpstr>Problem Statement: Occassional Customers</vt:lpstr>
      <vt:lpstr>Problem Statement: Repeated Purchases</vt:lpstr>
      <vt:lpstr>Problem Statement: Loyalty Indicators</vt:lpstr>
      <vt:lpstr>PowerPoint Presentation</vt:lpstr>
      <vt:lpstr>Problem Statement: Customer Segmentation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Case Study</dc:title>
  <dc:creator>Lenovo</dc:creator>
  <cp:lastModifiedBy>Lenovo</cp:lastModifiedBy>
  <cp:revision>15</cp:revision>
  <dcterms:created xsi:type="dcterms:W3CDTF">2025-11-02T14:23:47Z</dcterms:created>
  <dcterms:modified xsi:type="dcterms:W3CDTF">2025-11-03T08:32:04Z</dcterms:modified>
</cp:coreProperties>
</file>